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fc6bc2d2-1c8a-0a0f-b063-3d72b51e268d}">
          <p14:sldIdLst>
            <p14:sldId id="256"/>
          </p14:sldIdLst>
        </p14:section>
        <p14:section name="El juego" id="{3d9a064c-cccd-9f4d-19da-a9539114c676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ierre" id="{b3849d9e-641e-5b52-2e96-3212339df8f6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(0:00 - 0:10)  PORTADA
Buenas tardes, profesor y compañeros. Les presentamos ECO SHARK: Guardián del Océano, un juego de acción en 2.5D inspirado en Hungry Shark, donde el tiburón no es el villano: es quien limpia el 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(0:10 - 0:27)  PROPÓSITO / ODS 14
El juego se conecta con el ODS 14: Vida Submarina, y también con el ODS 12 de consumo responsable. Cada año llegan al mar millones de toneladas de plástico, y la pesca ilegal deja redes que atrapan tortugas y delfines. Por eso nuestro protagonista es un guardián del océano.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(0:27 - 0:45)  CORE LOOP
El bucle es simple: nadamos libres por el océano, nos comemos la basura —botellas, bolsas y latas—, liberamos a los animales atrapados en redes y, con la biomasa que ganamos, mejoramos a nuestro guardián para llegar más lejos en la siguiente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(0:45 - 1:02)  JUGABILIDAD
El tiburón nada libre en 360 grados y tiene un impulso para acelerar. Recoger basura seguida arma un combo de hasta x4, hay misiones cortas que se encadenan y flechas que te guían hacia el animal en peligro. Y con la biomasa compras tres mejoras: velocidad, imán y resistencia tóxica.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(1:02 - 1:19)  ENERGÍA Y TOXICIDAD
La mecánica central es la energía: la toxicidad del mar la drena todo el tiempo, y cada vez más rápido. Para sobrevivir tienes que limpiar: cada residuo que comes te recarga y te enseña un dato real, como que una botella de plástico tarda unos 450 años en degradarse.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(1:19 - 1:37)  ANIMALES Y AMENAZAS
Rescatamos tortugas marinas y delfines atrapados en redes: hay que quedarse a su lado hasta liberarlos y, si tardas demasiado, no sobreviven. Y enfrentamos tres amenazas: las manchas de petróleo que te frenan, los barriles tóxicos que te dañan, y los barcos de pesca ilegal que patrullan la superficie soltando nuevas redes.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(1:37 - 1:55)  EL OCÉANO
El mundo es un océano de 300 metros de ancho con tres zonas: la superficie, con olas, cielo y barcos; la zona media, con rayos de sol y cardúmenes que huyen cuando te acercas; y el fondo marino, con algas y corales. Todo se mueve: es un mar vivo, y cuanto más bajas, más oscuro se 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(1:55 - 2:17)  TECNOLOGÍA
Lo desarrollamos en Unity 6 con C#. El tiburón nada sin huesos: un shader propio deforma la malla con una onda, y el coletazo se acelera con la velocidad. El modelo 3D lo generamos con Tripo AI y lo optimizamos de casi dos millones de triángulos a 15 mil para que corra en web y móvil. La interfaz se dibuja por código, el audio es de licencia libre, y programamos con apoyo de asistentes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(2:17 - 2:27)  CIERRE
ECO SHARK demuestra que un videojuego puede divertir y, al mismo tiempo, enseñar a cuidar el océano. ¡Muchas gracias! Y para despedirnos, véanlo en acción.
-&gt; Avanza: el tráiler empieza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(2:27 - 2:57)  TRÁILER  (30 s)
No hables: deja que el tráiler corra solo con su música.
Empieza solo al llegar a esta diapositiva. (No hagas clic encima del video: lo pausa.)
Si no arrancara solo, haz clic una vez sobre el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mpleta">
    <p:bg>
      <p:bgPr>
        <a:solidFill>
          <a:srgbClr val="05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oscuro">
    <p:bg>
      <p:bgPr>
        <a:solidFill>
          <a:srgbClr val="05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ada (menú del juego)" descr="img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ildora"/>
          <p:cNvSpPr/>
          <p:nvPr/>
        </p:nvSpPr>
        <p:spPr>
          <a:xfrm>
            <a:off x="8549640" y="6217920"/>
            <a:ext cx="34290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ESTILO HUNGRY SHARK  ·  ODS 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rco, petróleo y delfín atrapado" descr="img/o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ildora"/>
          <p:cNvSpPr/>
          <p:nvPr/>
        </p:nvSpPr>
        <p:spPr>
          <a:xfrm>
            <a:off x="228600" y="6272784"/>
            <a:ext cx="54864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tx1"/>
                </a:solidFill>
              </a:rPr>
              <a:t>ODS 14  ·  VIDA SUBMARINA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dora"/>
          <p:cNvSpPr/>
          <p:nvPr/>
        </p:nvSpPr>
        <p:spPr>
          <a:xfrm>
            <a:off x="457200" y="457200"/>
            <a:ext cx="28346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tx1"/>
                </a:solidFill>
              </a:rPr>
              <a:t>EL BUCLE DE JUEGO</a:t>
            </a:r>
            <a:endParaRPr lang="en-US" sz="1500" dirty="0"/>
          </a:p>
        </p:txBody>
      </p:sp>
      <p:sp>
        <p:nvSpPr>
          <p:cNvPr id="3" name="Paso 1: NADAR (marco)"/>
          <p:cNvSpPr/>
          <p:nvPr/>
        </p:nvSpPr>
        <p:spPr>
          <a:xfrm>
            <a:off x="399136" y="2048256"/>
            <a:ext cx="2670048" cy="2029968"/>
          </a:xfrm>
          <a:prstGeom prst="roundRect">
            <a:avLst>
              <a:gd name="adj" fmla="val 63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Paso 1: NADAR" descr="img/loop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000" y="2103120"/>
            <a:ext cx="2560320" cy="1920240"/>
          </a:xfrm>
          <a:prstGeom prst="rect">
            <a:avLst/>
          </a:prstGeom>
        </p:spPr>
      </p:pic>
      <p:sp>
        <p:nvSpPr>
          <p:cNvPr id="5" name="Etiqueta paso 1"/>
          <p:cNvSpPr txBox="1"/>
          <p:nvPr/>
        </p:nvSpPr>
        <p:spPr>
          <a:xfrm>
            <a:off x="454000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chemeClr val="accent1"/>
                </a:solidFill>
              </a:rPr>
              <a:t>1  </a:t>
            </a:r>
            <a:pPr algn="ctr" indent="0" marL="0">
              <a:buNone/>
            </a:pPr>
            <a:r>
              <a:rPr lang="en-US" sz="2000" b="1" spc="100" kern="0" dirty="0">
                <a:solidFill>
                  <a:schemeClr val="bg1"/>
                </a:solidFill>
              </a:rPr>
              <a:t>NADAR</a:t>
            </a:r>
            <a:endParaRPr lang="en-US" sz="2000" dirty="0"/>
          </a:p>
        </p:txBody>
      </p:sp>
      <p:sp>
        <p:nvSpPr>
          <p:cNvPr id="6" name="Detalle paso 1"/>
          <p:cNvSpPr txBox="1"/>
          <p:nvPr/>
        </p:nvSpPr>
        <p:spPr>
          <a:xfrm>
            <a:off x="454000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Nado libre en 360°</a:t>
            </a:r>
            <a:endParaRPr lang="en-US" sz="1300" dirty="0"/>
          </a:p>
        </p:txBody>
      </p:sp>
      <p:sp>
        <p:nvSpPr>
          <p:cNvPr id="7" name="Flecha 1"/>
          <p:cNvSpPr/>
          <p:nvPr/>
        </p:nvSpPr>
        <p:spPr>
          <a:xfrm>
            <a:off x="3073756" y="2944368"/>
            <a:ext cx="22860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o 2: LIMPIAR (marco)"/>
          <p:cNvSpPr/>
          <p:nvPr/>
        </p:nvSpPr>
        <p:spPr>
          <a:xfrm>
            <a:off x="3306928" y="2048256"/>
            <a:ext cx="2670048" cy="2029968"/>
          </a:xfrm>
          <a:prstGeom prst="roundRect">
            <a:avLst>
              <a:gd name="adj" fmla="val 63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Paso 2: LIMPIAR" descr="img/loop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92" y="2103120"/>
            <a:ext cx="2560320" cy="1920240"/>
          </a:xfrm>
          <a:prstGeom prst="rect">
            <a:avLst/>
          </a:prstGeom>
        </p:spPr>
      </p:pic>
      <p:sp>
        <p:nvSpPr>
          <p:cNvPr id="10" name="Etiqueta paso 2"/>
          <p:cNvSpPr txBox="1"/>
          <p:nvPr/>
        </p:nvSpPr>
        <p:spPr>
          <a:xfrm>
            <a:off x="3361792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chemeClr val="accent1"/>
                </a:solidFill>
              </a:rPr>
              <a:t>2  </a:t>
            </a:r>
            <a:pPr algn="ctr" indent="0" marL="0">
              <a:buNone/>
            </a:pPr>
            <a:r>
              <a:rPr lang="en-US" sz="2000" b="1" spc="100" kern="0" dirty="0">
                <a:solidFill>
                  <a:schemeClr val="bg1"/>
                </a:solidFill>
              </a:rPr>
              <a:t>LIMPIAR</a:t>
            </a:r>
            <a:endParaRPr lang="en-US" sz="2000" dirty="0"/>
          </a:p>
        </p:txBody>
      </p:sp>
      <p:sp>
        <p:nvSpPr>
          <p:cNvPr id="11" name="Detalle paso 2"/>
          <p:cNvSpPr txBox="1"/>
          <p:nvPr/>
        </p:nvSpPr>
        <p:spPr>
          <a:xfrm>
            <a:off x="3361792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Come botellas, bolsas y latas</a:t>
            </a:r>
            <a:endParaRPr lang="en-US" sz="1300" dirty="0"/>
          </a:p>
        </p:txBody>
      </p:sp>
      <p:sp>
        <p:nvSpPr>
          <p:cNvPr id="12" name="Flecha 2"/>
          <p:cNvSpPr/>
          <p:nvPr/>
        </p:nvSpPr>
        <p:spPr>
          <a:xfrm>
            <a:off x="5981548" y="2944368"/>
            <a:ext cx="22860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aso 3: RESCATAR (marco)"/>
          <p:cNvSpPr/>
          <p:nvPr/>
        </p:nvSpPr>
        <p:spPr>
          <a:xfrm>
            <a:off x="6214720" y="2048256"/>
            <a:ext cx="2670048" cy="2029968"/>
          </a:xfrm>
          <a:prstGeom prst="roundRect">
            <a:avLst>
              <a:gd name="adj" fmla="val 63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Paso 3: RESCATAR" descr="img/loop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584" y="2103120"/>
            <a:ext cx="2560320" cy="1920240"/>
          </a:xfrm>
          <a:prstGeom prst="rect">
            <a:avLst/>
          </a:prstGeom>
        </p:spPr>
      </p:pic>
      <p:sp>
        <p:nvSpPr>
          <p:cNvPr id="15" name="Etiqueta paso 3"/>
          <p:cNvSpPr txBox="1"/>
          <p:nvPr/>
        </p:nvSpPr>
        <p:spPr>
          <a:xfrm>
            <a:off x="6269584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chemeClr val="accent1"/>
                </a:solidFill>
              </a:rPr>
              <a:t>3  </a:t>
            </a:r>
            <a:pPr algn="ctr" indent="0" marL="0">
              <a:buNone/>
            </a:pPr>
            <a:r>
              <a:rPr lang="en-US" sz="2000" b="1" spc="100" kern="0" dirty="0">
                <a:solidFill>
                  <a:schemeClr val="bg1"/>
                </a:solidFill>
              </a:rPr>
              <a:t>RESCATAR</a:t>
            </a:r>
            <a:endParaRPr lang="en-US" sz="2000" dirty="0"/>
          </a:p>
        </p:txBody>
      </p:sp>
      <p:sp>
        <p:nvSpPr>
          <p:cNvPr id="16" name="Detalle paso 3"/>
          <p:cNvSpPr txBox="1"/>
          <p:nvPr/>
        </p:nvSpPr>
        <p:spPr>
          <a:xfrm>
            <a:off x="6269584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Libera animales de las redes</a:t>
            </a:r>
            <a:endParaRPr lang="en-US" sz="1300" dirty="0"/>
          </a:p>
        </p:txBody>
      </p:sp>
      <p:sp>
        <p:nvSpPr>
          <p:cNvPr id="17" name="Flecha 3"/>
          <p:cNvSpPr/>
          <p:nvPr/>
        </p:nvSpPr>
        <p:spPr>
          <a:xfrm>
            <a:off x="8889340" y="2944368"/>
            <a:ext cx="22860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aso 4: MEJORAR (marco)"/>
          <p:cNvSpPr/>
          <p:nvPr/>
        </p:nvSpPr>
        <p:spPr>
          <a:xfrm>
            <a:off x="9122512" y="2048256"/>
            <a:ext cx="2670048" cy="2029968"/>
          </a:xfrm>
          <a:prstGeom prst="roundRect">
            <a:avLst>
              <a:gd name="adj" fmla="val 63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Paso 4: MEJORAR" descr="img/loop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376" y="2103120"/>
            <a:ext cx="2560320" cy="1920240"/>
          </a:xfrm>
          <a:prstGeom prst="rect">
            <a:avLst/>
          </a:prstGeom>
        </p:spPr>
      </p:pic>
      <p:sp>
        <p:nvSpPr>
          <p:cNvPr id="20" name="Etiqueta paso 4"/>
          <p:cNvSpPr txBox="1"/>
          <p:nvPr/>
        </p:nvSpPr>
        <p:spPr>
          <a:xfrm>
            <a:off x="9177376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chemeClr val="accent1"/>
                </a:solidFill>
              </a:rPr>
              <a:t>4  </a:t>
            </a:r>
            <a:pPr algn="ctr" indent="0" marL="0">
              <a:buNone/>
            </a:pPr>
            <a:r>
              <a:rPr lang="en-US" sz="2000" b="1" spc="100" kern="0" dirty="0">
                <a:solidFill>
                  <a:schemeClr val="bg1"/>
                </a:solidFill>
              </a:rPr>
              <a:t>MEJORAR</a:t>
            </a:r>
            <a:endParaRPr lang="en-US" sz="2000" dirty="0"/>
          </a:p>
        </p:txBody>
      </p:sp>
      <p:sp>
        <p:nvSpPr>
          <p:cNvPr id="21" name="Detalle paso 4"/>
          <p:cNvSpPr txBox="1"/>
          <p:nvPr/>
        </p:nvSpPr>
        <p:spPr>
          <a:xfrm>
            <a:off x="9177376" y="4709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Gasta biomasa en mejoras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tida: combo, misión y cardumen" descr="img/gamepl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ato 1"/>
          <p:cNvSpPr/>
          <p:nvPr/>
        </p:nvSpPr>
        <p:spPr>
          <a:xfrm>
            <a:off x="2438248" y="5230368"/>
            <a:ext cx="2377440" cy="109728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Cifra 1"/>
          <p:cNvSpPr txBox="1"/>
          <p:nvPr/>
        </p:nvSpPr>
        <p:spPr>
          <a:xfrm>
            <a:off x="2438248" y="52852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360°</a:t>
            </a:r>
            <a:endParaRPr lang="en-US" sz="3400" dirty="0"/>
          </a:p>
        </p:txBody>
      </p:sp>
      <p:sp>
        <p:nvSpPr>
          <p:cNvPr id="5" name="Rótulo 1"/>
          <p:cNvSpPr txBox="1"/>
          <p:nvPr/>
        </p:nvSpPr>
        <p:spPr>
          <a:xfrm>
            <a:off x="2438248" y="58887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NADO LIBRE</a:t>
            </a:r>
            <a:endParaRPr lang="en-US" sz="1200" dirty="0"/>
          </a:p>
        </p:txBody>
      </p:sp>
      <p:sp>
        <p:nvSpPr>
          <p:cNvPr id="6" name="Dato 2"/>
          <p:cNvSpPr/>
          <p:nvPr/>
        </p:nvSpPr>
        <p:spPr>
          <a:xfrm>
            <a:off x="4907128" y="5230368"/>
            <a:ext cx="2377440" cy="109728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Cifra 2"/>
          <p:cNvSpPr txBox="1"/>
          <p:nvPr/>
        </p:nvSpPr>
        <p:spPr>
          <a:xfrm>
            <a:off x="4907128" y="52852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x4</a:t>
            </a:r>
            <a:endParaRPr lang="en-US" sz="3400" dirty="0"/>
          </a:p>
        </p:txBody>
      </p:sp>
      <p:sp>
        <p:nvSpPr>
          <p:cNvPr id="8" name="Rótulo 2"/>
          <p:cNvSpPr txBox="1"/>
          <p:nvPr/>
        </p:nvSpPr>
        <p:spPr>
          <a:xfrm>
            <a:off x="4907128" y="58887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COMBO MÁXIMO</a:t>
            </a:r>
            <a:endParaRPr lang="en-US" sz="1200" dirty="0"/>
          </a:p>
        </p:txBody>
      </p:sp>
      <p:sp>
        <p:nvSpPr>
          <p:cNvPr id="9" name="Dato 3"/>
          <p:cNvSpPr/>
          <p:nvPr/>
        </p:nvSpPr>
        <p:spPr>
          <a:xfrm>
            <a:off x="7376008" y="5230368"/>
            <a:ext cx="2377440" cy="109728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Cifra 3"/>
          <p:cNvSpPr txBox="1"/>
          <p:nvPr/>
        </p:nvSpPr>
        <p:spPr>
          <a:xfrm>
            <a:off x="7376008" y="52852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3</a:t>
            </a:r>
            <a:endParaRPr lang="en-US" sz="3400" dirty="0"/>
          </a:p>
        </p:txBody>
      </p:sp>
      <p:sp>
        <p:nvSpPr>
          <p:cNvPr id="11" name="Rótulo 3"/>
          <p:cNvSpPr txBox="1"/>
          <p:nvPr/>
        </p:nvSpPr>
        <p:spPr>
          <a:xfrm>
            <a:off x="7376008" y="58887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MEJORAS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dora"/>
          <p:cNvSpPr/>
          <p:nvPr/>
        </p:nvSpPr>
        <p:spPr>
          <a:xfrm>
            <a:off x="457200" y="457200"/>
            <a:ext cx="30175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tx1"/>
                </a:solidFill>
              </a:rPr>
              <a:t>ENERGÍA Y TOXICIDAD</a:t>
            </a:r>
            <a:endParaRPr lang="en-US" sz="1500" dirty="0"/>
          </a:p>
        </p:txBody>
      </p:sp>
      <p:sp>
        <p:nvSpPr>
          <p:cNvPr id="3" name="Comer basura recarga (marco)"/>
          <p:cNvSpPr/>
          <p:nvPr/>
        </p:nvSpPr>
        <p:spPr>
          <a:xfrm>
            <a:off x="691744" y="1316736"/>
            <a:ext cx="5230368" cy="3950208"/>
          </a:xfrm>
          <a:prstGeom prst="roundRect">
            <a:avLst>
              <a:gd name="adj" fmla="val 324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Comer basura recarga" descr="img/energy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5120640" cy="3840480"/>
          </a:xfrm>
          <a:prstGeom prst="rect">
            <a:avLst/>
          </a:prstGeom>
        </p:spPr>
      </p:pic>
      <p:sp>
        <p:nvSpPr>
          <p:cNvPr id="5" name="La toxicidad drena (marco)"/>
          <p:cNvSpPr/>
          <p:nvPr/>
        </p:nvSpPr>
        <p:spPr>
          <a:xfrm>
            <a:off x="6269584" y="1316736"/>
            <a:ext cx="5230368" cy="3950208"/>
          </a:xfrm>
          <a:prstGeom prst="roundRect">
            <a:avLst>
              <a:gd name="adj" fmla="val 324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La toxicidad drena" descr="img/energy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371600"/>
            <a:ext cx="5120640" cy="3840480"/>
          </a:xfrm>
          <a:prstGeom prst="rect">
            <a:avLst/>
          </a:prstGeom>
        </p:spPr>
      </p:pic>
      <p:sp>
        <p:nvSpPr>
          <p:cNvPr id="7" name="Etiqueta"/>
          <p:cNvSpPr txBox="1"/>
          <p:nvPr/>
        </p:nvSpPr>
        <p:spPr>
          <a:xfrm>
            <a:off x="746608" y="5486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COMER BASURA TE RECARGA</a:t>
            </a:r>
            <a:endParaRPr lang="en-US" sz="1800" dirty="0"/>
          </a:p>
        </p:txBody>
      </p:sp>
      <p:sp>
        <p:nvSpPr>
          <p:cNvPr id="8" name="Etiqueta"/>
          <p:cNvSpPr txBox="1"/>
          <p:nvPr/>
        </p:nvSpPr>
        <p:spPr>
          <a:xfrm>
            <a:off x="6324448" y="5486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</a:rPr>
              <a:t>LA TOXICIDAD TE DRENA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dora"/>
          <p:cNvSpPr/>
          <p:nvPr/>
        </p:nvSpPr>
        <p:spPr>
          <a:xfrm>
            <a:off x="960120" y="1600200"/>
            <a:ext cx="32918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tx1"/>
                </a:solidFill>
              </a:rPr>
              <a:t>ANIMALES POR RESCATAR</a:t>
            </a:r>
            <a:endParaRPr lang="en-US" sz="1500" dirty="0"/>
          </a:p>
        </p:txBody>
      </p:sp>
      <p:sp>
        <p:nvSpPr>
          <p:cNvPr id="3" name="Pildora"/>
          <p:cNvSpPr/>
          <p:nvPr/>
        </p:nvSpPr>
        <p:spPr>
          <a:xfrm>
            <a:off x="7406640" y="160020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tx1"/>
                </a:solidFill>
              </a:rPr>
              <a:t>LAS AMENAZAS</a:t>
            </a:r>
            <a:endParaRPr lang="en-US" sz="1500" dirty="0"/>
          </a:p>
        </p:txBody>
      </p:sp>
      <p:sp>
        <p:nvSpPr>
          <p:cNvPr id="4" name="TORTUGA MARINA (marco)"/>
          <p:cNvSpPr/>
          <p:nvPr/>
        </p:nvSpPr>
        <p:spPr>
          <a:xfrm>
            <a:off x="448056" y="2368296"/>
            <a:ext cx="2121408" cy="2121408"/>
          </a:xfrm>
          <a:prstGeom prst="roundRect">
            <a:avLst>
              <a:gd name="adj" fmla="val 603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TORTUGA MARINA" descr="img/r_tortug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23160"/>
            <a:ext cx="2011680" cy="2011680"/>
          </a:xfrm>
          <a:prstGeom prst="rect">
            <a:avLst/>
          </a:prstGeom>
        </p:spPr>
      </p:pic>
      <p:sp>
        <p:nvSpPr>
          <p:cNvPr id="6" name="Etiqueta"/>
          <p:cNvSpPr txBox="1"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TORTUGA MARINA</a:t>
            </a:r>
            <a:endParaRPr lang="en-US" sz="1500" dirty="0"/>
          </a:p>
        </p:txBody>
      </p:sp>
      <p:sp>
        <p:nvSpPr>
          <p:cNvPr id="7" name="Detalle"/>
          <p:cNvSpPr txBox="1"/>
          <p:nvPr/>
        </p:nvSpPr>
        <p:spPr>
          <a:xfrm>
            <a:off x="502920" y="4983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Atrapada en una red</a:t>
            </a:r>
            <a:endParaRPr lang="en-US" sz="1200" dirty="0"/>
          </a:p>
        </p:txBody>
      </p:sp>
      <p:sp>
        <p:nvSpPr>
          <p:cNvPr id="8" name="DELFÍN (marco)"/>
          <p:cNvSpPr/>
          <p:nvPr/>
        </p:nvSpPr>
        <p:spPr>
          <a:xfrm>
            <a:off x="2642616" y="2368296"/>
            <a:ext cx="2121408" cy="2121408"/>
          </a:xfrm>
          <a:prstGeom prst="roundRect">
            <a:avLst>
              <a:gd name="adj" fmla="val 603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DELFÍN" descr="img/r_delf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423160"/>
            <a:ext cx="2011680" cy="2011680"/>
          </a:xfrm>
          <a:prstGeom prst="rect">
            <a:avLst/>
          </a:prstGeom>
        </p:spPr>
      </p:pic>
      <p:sp>
        <p:nvSpPr>
          <p:cNvPr id="10" name="Etiqueta"/>
          <p:cNvSpPr txBox="1"/>
          <p:nvPr/>
        </p:nvSpPr>
        <p:spPr>
          <a:xfrm>
            <a:off x="269748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DELFÍN</a:t>
            </a:r>
            <a:endParaRPr lang="en-US" sz="1500" dirty="0"/>
          </a:p>
        </p:txBody>
      </p:sp>
      <p:sp>
        <p:nvSpPr>
          <p:cNvPr id="11" name="Detalle"/>
          <p:cNvSpPr txBox="1"/>
          <p:nvPr/>
        </p:nvSpPr>
        <p:spPr>
          <a:xfrm>
            <a:off x="2697480" y="4983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 tardas, no sobrevive</a:t>
            </a:r>
            <a:endParaRPr lang="en-US" sz="1200" dirty="0"/>
          </a:p>
        </p:txBody>
      </p:sp>
      <p:sp>
        <p:nvSpPr>
          <p:cNvPr id="12" name="PETRÓLEO (marco)"/>
          <p:cNvSpPr/>
          <p:nvPr/>
        </p:nvSpPr>
        <p:spPr>
          <a:xfrm>
            <a:off x="5294376" y="2368296"/>
            <a:ext cx="2121408" cy="2121408"/>
          </a:xfrm>
          <a:prstGeom prst="roundRect">
            <a:avLst>
              <a:gd name="adj" fmla="val 603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PETRÓLEO" descr="img/r_petrole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423160"/>
            <a:ext cx="2011680" cy="2011680"/>
          </a:xfrm>
          <a:prstGeom prst="rect">
            <a:avLst/>
          </a:prstGeom>
        </p:spPr>
      </p:pic>
      <p:sp>
        <p:nvSpPr>
          <p:cNvPr id="14" name="Etiqueta"/>
          <p:cNvSpPr txBox="1"/>
          <p:nvPr/>
        </p:nvSpPr>
        <p:spPr>
          <a:xfrm>
            <a:off x="534924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PETRÓLEO</a:t>
            </a:r>
            <a:endParaRPr lang="en-US" sz="1500" dirty="0"/>
          </a:p>
        </p:txBody>
      </p:sp>
      <p:sp>
        <p:nvSpPr>
          <p:cNvPr id="15" name="Detalle"/>
          <p:cNvSpPr txBox="1"/>
          <p:nvPr/>
        </p:nvSpPr>
        <p:spPr>
          <a:xfrm>
            <a:off x="5349240" y="4983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 frena y te drena</a:t>
            </a:r>
            <a:endParaRPr lang="en-US" sz="1200" dirty="0"/>
          </a:p>
        </p:txBody>
      </p:sp>
      <p:sp>
        <p:nvSpPr>
          <p:cNvPr id="16" name="BARRIL TÓXICO (marco)"/>
          <p:cNvSpPr/>
          <p:nvPr/>
        </p:nvSpPr>
        <p:spPr>
          <a:xfrm>
            <a:off x="7488936" y="2368296"/>
            <a:ext cx="2121408" cy="2121408"/>
          </a:xfrm>
          <a:prstGeom prst="roundRect">
            <a:avLst>
              <a:gd name="adj" fmla="val 603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BARRIL TÓXICO" descr="img/r_barri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423160"/>
            <a:ext cx="2011680" cy="2011680"/>
          </a:xfrm>
          <a:prstGeom prst="rect">
            <a:avLst/>
          </a:prstGeom>
        </p:spPr>
      </p:pic>
      <p:sp>
        <p:nvSpPr>
          <p:cNvPr id="18" name="Etiqueta"/>
          <p:cNvSpPr txBox="1"/>
          <p:nvPr/>
        </p:nvSpPr>
        <p:spPr>
          <a:xfrm>
            <a:off x="754380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BARRIL TÓXICO</a:t>
            </a:r>
            <a:endParaRPr lang="en-US" sz="1500" dirty="0"/>
          </a:p>
        </p:txBody>
      </p:sp>
      <p:sp>
        <p:nvSpPr>
          <p:cNvPr id="19" name="Detalle"/>
          <p:cNvSpPr txBox="1"/>
          <p:nvPr/>
        </p:nvSpPr>
        <p:spPr>
          <a:xfrm>
            <a:off x="7543800" y="4983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Daño directo</a:t>
            </a:r>
            <a:endParaRPr lang="en-US" sz="1200" dirty="0"/>
          </a:p>
        </p:txBody>
      </p:sp>
      <p:sp>
        <p:nvSpPr>
          <p:cNvPr id="20" name="PESCA ILEGAL (marco)"/>
          <p:cNvSpPr/>
          <p:nvPr/>
        </p:nvSpPr>
        <p:spPr>
          <a:xfrm>
            <a:off x="9683496" y="2368296"/>
            <a:ext cx="2121408" cy="2121408"/>
          </a:xfrm>
          <a:prstGeom prst="roundRect">
            <a:avLst>
              <a:gd name="adj" fmla="val 603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PESCA ILEGAL" descr="img/r_barc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2423160"/>
            <a:ext cx="2011680" cy="2011680"/>
          </a:xfrm>
          <a:prstGeom prst="rect">
            <a:avLst/>
          </a:prstGeom>
        </p:spPr>
      </p:pic>
      <p:sp>
        <p:nvSpPr>
          <p:cNvPr id="22" name="Etiqueta"/>
          <p:cNvSpPr txBox="1"/>
          <p:nvPr/>
        </p:nvSpPr>
        <p:spPr>
          <a:xfrm>
            <a:off x="973836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PESCA ILEGAL</a:t>
            </a:r>
            <a:endParaRPr lang="en-US" sz="1500" dirty="0"/>
          </a:p>
        </p:txBody>
      </p:sp>
      <p:sp>
        <p:nvSpPr>
          <p:cNvPr id="23" name="Detalle"/>
          <p:cNvSpPr txBox="1"/>
          <p:nvPr/>
        </p:nvSpPr>
        <p:spPr>
          <a:xfrm>
            <a:off x="9738360" y="4983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Suelta nuevas redes</a:t>
            </a:r>
            <a:endParaRPr lang="en-US" sz="1200" dirty="0"/>
          </a:p>
        </p:txBody>
      </p:sp>
      <p:sp>
        <p:nvSpPr>
          <p:cNvPr id="24" name="VS"/>
          <p:cNvSpPr txBox="1"/>
          <p:nvPr/>
        </p:nvSpPr>
        <p:spPr>
          <a:xfrm>
            <a:off x="4709160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VS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ona: SUPERFICIE" descr="img/z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Rótulo SUPERFICIE"/>
          <p:cNvSpPr/>
          <p:nvPr/>
        </p:nvSpPr>
        <p:spPr>
          <a:xfrm>
            <a:off x="843229" y="5897880"/>
            <a:ext cx="237744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SUPERFICIE</a:t>
            </a:r>
            <a:endParaRPr lang="en-US" sz="1400" dirty="0"/>
          </a:p>
        </p:txBody>
      </p:sp>
      <p:pic>
        <p:nvPicPr>
          <p:cNvPr id="4" name="Zona: ZONA MEDIA" descr="img/z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898" y="0"/>
            <a:ext cx="4063898" cy="6858000"/>
          </a:xfrm>
          <a:prstGeom prst="rect">
            <a:avLst/>
          </a:prstGeom>
        </p:spPr>
      </p:pic>
      <p:sp>
        <p:nvSpPr>
          <p:cNvPr id="5" name="Rótulo ZONA MEDIA"/>
          <p:cNvSpPr/>
          <p:nvPr/>
        </p:nvSpPr>
        <p:spPr>
          <a:xfrm>
            <a:off x="4907128" y="5897880"/>
            <a:ext cx="237744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ZONA MEDIA</a:t>
            </a:r>
            <a:endParaRPr lang="en-US" sz="1400" dirty="0"/>
          </a:p>
        </p:txBody>
      </p:sp>
      <p:pic>
        <p:nvPicPr>
          <p:cNvPr id="6" name="Zona: FONDO MARINO" descr="img/z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7" name="Rótulo FONDO MARINO"/>
          <p:cNvSpPr/>
          <p:nvPr/>
        </p:nvSpPr>
        <p:spPr>
          <a:xfrm>
            <a:off x="8971026" y="5897880"/>
            <a:ext cx="237744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FONDO MARINO</a:t>
            </a:r>
            <a:endParaRPr lang="en-US" sz="1400" dirty="0"/>
          </a:p>
        </p:txBody>
      </p:sp>
      <p:sp>
        <p:nvSpPr>
          <p:cNvPr id="8" name="Pildora"/>
          <p:cNvSpPr/>
          <p:nvPr/>
        </p:nvSpPr>
        <p:spPr>
          <a:xfrm>
            <a:off x="3169768" y="411480"/>
            <a:ext cx="5852160" cy="51206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chemeClr val="tx1"/>
                </a:solidFill>
              </a:rPr>
              <a:t>UN OCÉANO VIVO DE 300 METROS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dora"/>
          <p:cNvSpPr/>
          <p:nvPr/>
        </p:nvSpPr>
        <p:spPr>
          <a:xfrm>
            <a:off x="457200" y="45720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tx1"/>
                </a:solidFill>
              </a:rPr>
              <a:t>CÓMO LO HICIMOS</a:t>
            </a:r>
            <a:endParaRPr lang="en-US" sz="1500" dirty="0"/>
          </a:p>
        </p:txBody>
      </p:sp>
      <p:sp>
        <p:nvSpPr>
          <p:cNvPr id="3" name="Tiburón: modelo y shader de nado (marco)"/>
          <p:cNvSpPr/>
          <p:nvPr/>
        </p:nvSpPr>
        <p:spPr>
          <a:xfrm>
            <a:off x="457200" y="1271016"/>
            <a:ext cx="7150608" cy="4069080"/>
          </a:xfrm>
          <a:prstGeom prst="roundRect">
            <a:avLst>
              <a:gd name="adj" fmla="val 314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iburón: modelo y shader de nado" descr="img/tech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25880"/>
            <a:ext cx="7040880" cy="3959352"/>
          </a:xfrm>
          <a:prstGeom prst="rect">
            <a:avLst/>
          </a:prstGeom>
        </p:spPr>
      </p:pic>
      <p:sp>
        <p:nvSpPr>
          <p:cNvPr id="5" name="Modelo 3D del tiburón (marco)"/>
          <p:cNvSpPr/>
          <p:nvPr/>
        </p:nvSpPr>
        <p:spPr>
          <a:xfrm>
            <a:off x="7918704" y="1271016"/>
            <a:ext cx="3813048" cy="1938528"/>
          </a:xfrm>
          <a:prstGeom prst="roundRect">
            <a:avLst>
              <a:gd name="adj" fmla="val 660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Modelo 3D del tiburón" descr="img/tech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325880"/>
            <a:ext cx="3703320" cy="1828800"/>
          </a:xfrm>
          <a:prstGeom prst="rect">
            <a:avLst/>
          </a:prstGeom>
        </p:spPr>
      </p:pic>
      <p:sp>
        <p:nvSpPr>
          <p:cNvPr id="7" name="Interfaz generada por código (marco)"/>
          <p:cNvSpPr/>
          <p:nvPr/>
        </p:nvSpPr>
        <p:spPr>
          <a:xfrm>
            <a:off x="7918704" y="3401568"/>
            <a:ext cx="3813048" cy="1938528"/>
          </a:xfrm>
          <a:prstGeom prst="roundRect">
            <a:avLst>
              <a:gd name="adj" fmla="val 660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nterfaz generada por código" descr="img/tech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3456432"/>
            <a:ext cx="3703320" cy="1828800"/>
          </a:xfrm>
          <a:prstGeom prst="rect">
            <a:avLst/>
          </a:prstGeom>
        </p:spPr>
      </p:pic>
      <p:sp>
        <p:nvSpPr>
          <p:cNvPr id="9" name="Etiqueta"/>
          <p:cNvSpPr txBox="1"/>
          <p:nvPr/>
        </p:nvSpPr>
        <p:spPr>
          <a:xfrm>
            <a:off x="512064" y="55778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UNITY 6  ·  C#  ·  NADO PROCEDURAL POR SHADER</a:t>
            </a:r>
            <a:endParaRPr lang="en-US" sz="1600" dirty="0"/>
          </a:p>
        </p:txBody>
      </p:sp>
      <p:sp>
        <p:nvSpPr>
          <p:cNvPr id="10" name="Etiqueta"/>
          <p:cNvSpPr txBox="1"/>
          <p:nvPr/>
        </p:nvSpPr>
        <p:spPr>
          <a:xfrm>
            <a:off x="7973568" y="55778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MODELO CON TRIPO AI  ·  AUDIO CC0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 de cierre" descr="img/cover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Gracias"/>
          <p:cNvSpPr/>
          <p:nvPr/>
        </p:nvSpPr>
        <p:spPr>
          <a:xfrm>
            <a:off x="2926080" y="2331720"/>
            <a:ext cx="6336792" cy="1645920"/>
          </a:xfrm>
          <a:prstGeom prst="roundRect">
            <a:avLst>
              <a:gd name="adj" fmla="val 16667"/>
            </a:avLst>
          </a:prstGeom>
          <a:solidFill>
            <a:schemeClr val="tx1">
              <a:alpha val="90000"/>
            </a:schemeClr>
          </a:solidFill>
          <a:ln w="317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¡GRACIAS!</a:t>
            </a:r>
            <a:endParaRPr lang="en-US" sz="6000" dirty="0"/>
          </a:p>
        </p:txBody>
      </p:sp>
      <p:sp>
        <p:nvSpPr>
          <p:cNvPr id="4" name="Pildora"/>
          <p:cNvSpPr/>
          <p:nvPr/>
        </p:nvSpPr>
        <p:spPr>
          <a:xfrm>
            <a:off x="3718408" y="4297680"/>
            <a:ext cx="47548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tx1"/>
                </a:solidFill>
              </a:rPr>
              <a:t>ECO SHARK  ·  GUARDIÁN DEL OCÉANO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CO_SHARK_Trailer_30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CO SHARK">
  <a:themeElements>
    <a:clrScheme name="ECO SHARK">
      <a:dk1>
        <a:srgbClr val="05192E"/>
      </a:dk1>
      <a:lt1>
        <a:srgbClr val="FFFFFF"/>
      </a:lt1>
      <a:dk2>
        <a:srgbClr val="0B2B47"/>
      </a:dk2>
      <a:lt2>
        <a:srgbClr val="DDF3FA"/>
      </a:lt2>
      <a:accent1>
        <a:srgbClr val="FF9A21"/>
      </a:accent1>
      <a:accent2>
        <a:srgbClr val="17A8CC"/>
      </a:accent2>
      <a:accent3>
        <a:srgbClr val="78ED66"/>
      </a:accent3>
      <a:accent4>
        <a:srgbClr val="FFD633"/>
      </a:accent4>
      <a:accent5>
        <a:srgbClr val="FF616B"/>
      </a:accent5>
      <a:accent6>
        <a:srgbClr val="0A6185"/>
      </a:accent6>
      <a:hlink>
        <a:srgbClr val="17A8CC"/>
      </a:hlink>
      <a:folHlink>
        <a:srgbClr val="0A6185"/>
      </a:folHlink>
    </a:clrScheme>
    <a:fontScheme name="ECO SH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 SHARK - Pitch Deck (3 min)</dc:title>
  <dc:subject>PptxGenJS Presentation</dc:subject>
  <dc:creator>Equipo ECO SHARK</dc:creator>
  <cp:lastModifiedBy>Equipo ECO SHARK</cp:lastModifiedBy>
  <cp:revision>1</cp:revision>
  <dcterms:created xsi:type="dcterms:W3CDTF">2026-10-02T06:55:33Z</dcterms:created>
  <dcterms:modified xsi:type="dcterms:W3CDTF">2026-10-02T06:55:33Z</dcterms:modified>
</cp:coreProperties>
</file>